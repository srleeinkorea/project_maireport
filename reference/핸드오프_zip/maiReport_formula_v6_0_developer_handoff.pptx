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docs/지표_룰베이스_산식_명세.md; docs/rulebase_completion_v5_7.md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docs/지표_룰베이스_산식_명세.md, docs/지표_formula_indicator_normalized_input_preprocessing_matrix_2026-09-10.md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apple_health_activity_probe.py; apple_health_sleep_normalizer.py; samsung_health_availability_probe.py; formula_samsung_health_sample_formula_feasibility_replay_before_formula_revision.py; formula_normalized_indicator_preprocessing.py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formula_normalized_indicator_preprocessing.py; formula_normalized_indicator_calculator.py; docs/지표_formula_indicator_normalized_input_preprocessing_matrix_2026-09-10.md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formula_normalized_indicator_preprocessing.py; docs/지표_룰베이스_산식_명세.md; docs/지표_formula_indicator_normalized_input_preprocessing_matrix_2026-09-10.md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docs/지표_formula_indicator_normalized_input_preprocessing_matrix_2026-09-10.md; docs/지표_formula_normalized_indicator_completion_audit_2026-09-10.md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formula_life_margin_rules.py; formula_normalized_indicator_calculator.py; indicator_construct_policy_v5_7_candidate.json; docs/지표_formula_indicator_normalized_input_preprocessing_matrix_2026-09-10.md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formula_normalized_indicator_calculator.py; indicator_construct_policy_v5_7_candidate.json; docs/지표_룰베이스_산식_명세.md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formula_normalized_indicator_preprocessing.py; formula_normalized_indicator_calculator.py; test_formula_normalized_indicator_preprocessing_adapters.py; docs/지표_룰베이스_산식_명세.md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formula_normalized_indicator_calculator.py; formula_normalized_indicator_preprocessing.py; indicator_construct_policy_v5_7_candidate.json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docs/지표_룰베이스_산식_명세.md; docs/지표_formula_indicator_normalized_input_preprocessing_matrix_2026-09-10.md; formula_normalized_indicator_preprocessing.py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formula_normalized_indicator_preprocessing.py; formula_normalized_indicator_calculator.py; docs/지표_룰베이스_산식_명세.md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docs/지표_formula_indicator_normalized_input_preprocessing_matrix_2026-09-10.md; formula_normalized_indicator_calculator.py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docs/지표_formula_normalized_indicator_completion_audit_2026-09-10.md; .handoff/current.md; docs/프로세스-변천-기록.md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0"/>
            <a:ext cx="2359152" cy="6858000"/>
          </a:xfrm>
          <a:prstGeom prst="rect">
            <a:avLst/>
          </a:prstGeom>
          <a:solidFill>
            <a:srgbClr val="172E52"/>
          </a:solidFill>
          <a:ln w="12700">
            <a:solidFill>
              <a:srgbClr val="172E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12680" y="1005840"/>
            <a:ext cx="1828800" cy="0"/>
          </a:xfrm>
          <a:prstGeom prst="line">
            <a:avLst/>
          </a:prstGeom>
          <a:noFill/>
          <a:ln w="12700">
            <a:solidFill>
              <a:srgbClr val="27456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12680" y="1755648"/>
            <a:ext cx="1828800" cy="0"/>
          </a:xfrm>
          <a:prstGeom prst="line">
            <a:avLst/>
          </a:prstGeom>
          <a:noFill/>
          <a:ln w="12700">
            <a:solidFill>
              <a:srgbClr val="3152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12680" y="2505456"/>
            <a:ext cx="1828800" cy="0"/>
          </a:xfrm>
          <a:prstGeom prst="line">
            <a:avLst/>
          </a:prstGeom>
          <a:noFill/>
          <a:ln w="12700">
            <a:solidFill>
              <a:srgbClr val="2745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12680" y="3255264"/>
            <a:ext cx="1828800" cy="0"/>
          </a:xfrm>
          <a:prstGeom prst="line">
            <a:avLst/>
          </a:prstGeom>
          <a:noFill/>
          <a:ln w="12700">
            <a:solidFill>
              <a:srgbClr val="3152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12680" y="4005072"/>
            <a:ext cx="1828800" cy="0"/>
          </a:xfrm>
          <a:prstGeom prst="line">
            <a:avLst/>
          </a:prstGeom>
          <a:noFill/>
          <a:ln w="12700">
            <a:solidFill>
              <a:srgbClr val="274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12680" y="4754880"/>
            <a:ext cx="1828800" cy="0"/>
          </a:xfrm>
          <a:prstGeom prst="line">
            <a:avLst/>
          </a:prstGeom>
          <a:noFill/>
          <a:ln w="12700">
            <a:solidFill>
              <a:srgbClr val="3152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8128" y="932688"/>
            <a:ext cx="146304" cy="146304"/>
          </a:xfrm>
          <a:prstGeom prst="ellipse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68128" y="2432304"/>
            <a:ext cx="146304" cy="146304"/>
          </a:xfrm>
          <a:prstGeom prst="ellipse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8128" y="3931920"/>
            <a:ext cx="146304" cy="146304"/>
          </a:xfrm>
          <a:prstGeom prst="ellipse">
            <a:avLst/>
          </a:prstGeom>
          <a:solidFill>
            <a:srgbClr val="B98729"/>
          </a:solidFill>
          <a:ln w="12700">
            <a:solidFill>
              <a:srgbClr val="B9872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7132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CE2D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184708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지표 산식 v6.0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26700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DCE6F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내부 공유용 · v5.7 기본점수 + 디바이스 보강 신호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" y="3703320"/>
            <a:ext cx="3520440" cy="0"/>
          </a:xfrm>
          <a:prstGeom prst="line">
            <a:avLst/>
          </a:prstGeom>
          <a:noFill/>
          <a:ln w="12700">
            <a:solidFill>
              <a:srgbClr val="198A8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0050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I1  생활 여유 · 수면/활동 보강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I2  일상 행동 연결 · v5.7 유지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35424" y="4005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I3  개인 기준 변화 · 생리 신호 안전장치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60533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FC2D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2026-09-11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60533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AFC2D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v6.0 internal developer handoff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v6.0 산식 전달 범위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사람의 정규화 입력으로 v5.7 기본점수와 선택 보강값을 계산한다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3063240" cy="3364992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FBE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65506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계층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77824" y="2130552"/>
            <a:ext cx="2624328" cy="0"/>
          </a:xfrm>
          <a:prstGeom prst="line">
            <a:avLst/>
          </a:prstGeom>
          <a:noFill/>
          <a:ln w="12700">
            <a:solidFill>
              <a:srgbClr val="D7655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86968" y="2423160"/>
            <a:ext cx="109728" cy="109728"/>
          </a:xfrm>
          <a:prstGeom prst="ellipse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36829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사람 데이터 격리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" y="2935224"/>
            <a:ext cx="109728" cy="109728"/>
          </a:xfrm>
          <a:prstGeom prst="ellipse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288036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수집·인증·저장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968" y="3447288"/>
            <a:ext cx="109728" cy="109728"/>
          </a:xfrm>
          <a:prstGeom prst="ellipse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924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provider payload 연결 · v6 신호 출처 분리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86968" y="3959352"/>
            <a:ext cx="109728" cy="109728"/>
          </a:xfrm>
          <a:prstGeom prst="ellipse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3904488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자료의 후속 범위 아님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62856" y="1417320"/>
            <a:ext cx="3063240" cy="3364992"/>
          </a:xfrm>
          <a:prstGeom prst="roundRect">
            <a:avLst/>
          </a:prstGeom>
          <a:solidFill>
            <a:srgbClr val="DDF2EF"/>
          </a:solidFill>
          <a:ln w="12700">
            <a:solidFill>
              <a:srgbClr val="DDF2E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82312" y="165506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전처리 계약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782312" y="2130552"/>
            <a:ext cx="2624328" cy="0"/>
          </a:xfrm>
          <a:prstGeom prst="line">
            <a:avLst/>
          </a:prstGeom>
          <a:noFill/>
          <a:ln w="12700">
            <a:solidFill>
              <a:srgbClr val="198A8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91456" y="2423160"/>
            <a:ext cx="109728" cy="109728"/>
          </a:xfrm>
          <a:prstGeom prst="ellipse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01768" y="236829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raw → normalized → 개인 기준선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91456" y="2935224"/>
            <a:ext cx="109728" cy="109728"/>
          </a:xfrm>
          <a:prstGeom prst="ellipse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01768" y="288036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단위·중복·겹침 정리 · 같은 기기/지표/맥락끼리만 비교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91456" y="3447288"/>
            <a:ext cx="109728" cy="109728"/>
          </a:xfrm>
          <a:prstGeom prst="ellipse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01768" y="33924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coverage·결측·window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91456" y="3959352"/>
            <a:ext cx="109728" cy="109728"/>
          </a:xfrm>
          <a:prstGeom prst="ellipse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01768" y="3904488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파생 규칙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67344" y="1417320"/>
            <a:ext cx="3063240" cy="3364992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0" y="165506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산식 계층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686800" y="2130552"/>
            <a:ext cx="2624328" cy="0"/>
          </a:xfrm>
          <a:prstGeom prst="line">
            <a:avLst/>
          </a:prstGeom>
          <a:noFill/>
          <a:ln w="12700">
            <a:solidFill>
              <a:srgbClr val="4D72C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95944" y="2423160"/>
            <a:ext cx="109728" cy="109728"/>
          </a:xfrm>
          <a:prstGeom prst="ellipse">
            <a:avLst/>
          </a:prstGeom>
          <a:solidFill>
            <a:srgbClr val="4D72C6"/>
          </a:solidFill>
          <a:ln w="12700">
            <a:solidFill>
              <a:srgbClr val="4D72C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06256" y="2368296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I1 v5.7+보강 / I2 유지 / I3 안전장치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695944" y="2935224"/>
            <a:ext cx="109728" cy="109728"/>
          </a:xfrm>
          <a:prstGeom prst="ellipse">
            <a:avLst/>
          </a:prstGeom>
          <a:solidFill>
            <a:srgbClr val="4D72C6"/>
          </a:solidFill>
          <a:ln w="12700">
            <a:solidFill>
              <a:srgbClr val="4D72C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06256" y="2880360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score 또는 score_bounds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95944" y="3447288"/>
            <a:ext cx="109728" cy="109728"/>
          </a:xfrm>
          <a:prstGeom prst="ellipse">
            <a:avLst/>
          </a:prstGeom>
          <a:solidFill>
            <a:srgbClr val="4D72C6"/>
          </a:solidFill>
          <a:ln w="12700">
            <a:solidFill>
              <a:srgbClr val="4D72C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06256" y="3392424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순수 계산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695944" y="3959352"/>
            <a:ext cx="109728" cy="109728"/>
          </a:xfrm>
          <a:prstGeom prst="ellipse">
            <a:avLst/>
          </a:prstGeom>
          <a:solidFill>
            <a:srgbClr val="4D72C6"/>
          </a:solidFill>
          <a:ln w="12700">
            <a:solidFill>
              <a:srgbClr val="4D72C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06256" y="3904488"/>
            <a:ext cx="2404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source를 재검증하지 않음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913632" y="2606040"/>
            <a:ext cx="347472" cy="493776"/>
          </a:xfrm>
          <a:prstGeom prst="chevron">
            <a:avLst/>
          </a:prstGeom>
          <a:solidFill>
            <a:srgbClr val="647184"/>
          </a:solidFill>
          <a:ln w="12700">
            <a:solidFill>
              <a:srgbClr val="64718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2606040"/>
            <a:ext cx="347472" cy="493776"/>
          </a:xfrm>
          <a:prstGeom prst="chevron">
            <a:avLst/>
          </a:prstGeom>
          <a:solidFill>
            <a:srgbClr val="647184"/>
          </a:solidFill>
          <a:ln w="12700">
            <a:solidFill>
              <a:srgbClr val="64718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542032" y="5230368"/>
            <a:ext cx="7086600" cy="621792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706624" y="5321808"/>
            <a:ext cx="6757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Formula input = 정리·판정이 끝난 의미 입력만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097280" y="6053328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운영팀은 원본을 ‘산식이 이해하는 값’으로 바꿔 전달한다. 산식은 원본의 인증·저장·소유권을 다시 판정하지 않는다.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Provider raw field contract · v6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Apple/Samsung 원본 → 표준 필드 → 사람이 이해하는 뜻 → 산식 변수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07008"/>
          <a:ext cx="8485632" cy="4114800"/>
        </p:xfrm>
        <a:graphic>
          <a:graphicData uri="http://schemas.openxmlformats.org/drawingml/2006/table">
            <a:tbl>
              <a:tblPr/>
              <a:tblGrid>
                <a:gridCol w="1353312"/>
                <a:gridCol w="4315968"/>
                <a:gridCol w="28163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raw record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provider 원본 필드명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(현재 샘플 adapter 기준)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portable field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중간 표준명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 step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HealthKit XML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Record@type = HKQuantityTypeIdentifierStepCount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Record@startDate · @endDate · @value · @unit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day · start · end · value · unit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 daily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CSV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com.samsung.shealth.step_daily_trend*.csv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source_type · day_time · count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day · value · unit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 interval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CSV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com.samsung.shealth.tracker.pedometer_step_count*.csv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com.samsung.health.step_count.time_offset/start_time/end_time/count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start · end · value · unit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 sleep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HealthKit XML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Record@type = HKCategoryTypeIdentifierSleepAnalysis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Record@startDate · @endDate · @value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start · end · observation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 sleep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CSV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com.samsung.shealth.sleep_combined*.csv 또는 sleep.*.csv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time_offset · start_time · end_time · sleep_duration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5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start · end · observation</a:t>
                      </a:r>
                      <a:endParaRPr lang="en-US" sz="815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25712" y="1207008"/>
            <a:ext cx="241401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326880" y="1481328"/>
            <a:ext cx="1975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전처리에서 생성 (원본에 없는 계산용 값)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345168" y="2011680"/>
            <a:ext cx="91440" cy="91440"/>
          </a:xfrm>
          <a:prstGeom prst="ellipse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28048" y="1975104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day</a:t>
            </a:r>
            <a:endParaRPr lang="en-US" sz="920" dirty="0"/>
          </a:p>
        </p:txBody>
      </p:sp>
      <p:sp>
        <p:nvSpPr>
          <p:cNvPr id="11" name="Text 8"/>
          <p:cNvSpPr txBox="1"/>
          <p:nvPr/>
        </p:nvSpPr>
        <p:spPr>
          <a:xfrm>
            <a:off x="9528048" y="2176272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timestamp → local date</a:t>
            </a:r>
            <a:endParaRPr lang="en-US" sz="880" dirty="0"/>
          </a:p>
        </p:txBody>
      </p:sp>
      <p:sp>
        <p:nvSpPr>
          <p:cNvPr id="12" name="Shape 9"/>
          <p:cNvSpPr/>
          <p:nvPr/>
        </p:nvSpPr>
        <p:spPr>
          <a:xfrm>
            <a:off x="9345168" y="2532888"/>
            <a:ext cx="91440" cy="91440"/>
          </a:xfrm>
          <a:prstGeom prst="ellipse">
            <a:avLst/>
          </a:prstGeom>
          <a:solidFill>
            <a:srgbClr val="647184"/>
          </a:solidFill>
          <a:ln w="12700">
            <a:solidFill>
              <a:srgbClr val="64718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28048" y="2496312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observation</a:t>
            </a:r>
            <a:endParaRPr lang="en-US" sz="920" dirty="0"/>
          </a:p>
        </p:txBody>
      </p:sp>
      <p:sp>
        <p:nvSpPr>
          <p:cNvPr id="14" name="Text 11"/>
          <p:cNvSpPr txBox="1"/>
          <p:nvPr/>
        </p:nvSpPr>
        <p:spPr>
          <a:xfrm>
            <a:off x="9528048" y="269748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observed/missing/nonwear</a:t>
            </a:r>
            <a:endParaRPr lang="en-US" sz="880" dirty="0"/>
          </a:p>
        </p:txBody>
      </p:sp>
      <p:sp>
        <p:nvSpPr>
          <p:cNvPr id="15" name="Shape 12"/>
          <p:cNvSpPr/>
          <p:nvPr/>
        </p:nvSpPr>
        <p:spPr>
          <a:xfrm>
            <a:off x="9345168" y="3054096"/>
            <a:ext cx="91440" cy="91440"/>
          </a:xfrm>
          <a:prstGeom prst="ellipse">
            <a:avLst/>
          </a:prstGeom>
          <a:solidFill>
            <a:srgbClr val="647184"/>
          </a:solidFill>
          <a:ln w="12700">
            <a:solidFill>
              <a:srgbClr val="64718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8048" y="3017520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state</a:t>
            </a:r>
            <a:endParaRPr lang="en-US" sz="920" dirty="0"/>
          </a:p>
        </p:txBody>
      </p:sp>
      <p:sp>
        <p:nvSpPr>
          <p:cNvPr id="17" name="Text 14"/>
          <p:cNvSpPr txBox="1"/>
          <p:nvPr/>
        </p:nvSpPr>
        <p:spPr>
          <a:xfrm>
            <a:off x="9528048" y="321868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movement 등 상태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9345168" y="3575304"/>
            <a:ext cx="91440" cy="91440"/>
          </a:xfrm>
          <a:prstGeom prst="ellipse">
            <a:avLst/>
          </a:prstGeom>
          <a:solidFill>
            <a:srgbClr val="647184"/>
          </a:solidFill>
          <a:ln w="12700">
            <a:solidFill>
              <a:srgbClr val="64718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528048" y="353872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partition_edges</a:t>
            </a:r>
            <a:endParaRPr lang="en-US" sz="920" dirty="0"/>
          </a:p>
        </p:txBody>
      </p:sp>
      <p:sp>
        <p:nvSpPr>
          <p:cNvPr id="20" name="Text 17"/>
          <p:cNvSpPr txBox="1"/>
          <p:nvPr/>
        </p:nvSpPr>
        <p:spPr>
          <a:xfrm>
            <a:off x="9528048" y="3739896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routine 설정</a:t>
            </a:r>
            <a:endParaRPr lang="en-US" sz="880" dirty="0"/>
          </a:p>
        </p:txBody>
      </p:sp>
      <p:sp>
        <p:nvSpPr>
          <p:cNvPr id="21" name="Shape 18"/>
          <p:cNvSpPr/>
          <p:nvPr/>
        </p:nvSpPr>
        <p:spPr>
          <a:xfrm>
            <a:off x="9345168" y="4096512"/>
            <a:ext cx="91440" cy="91440"/>
          </a:xfrm>
          <a:prstGeom prst="ellipse">
            <a:avLst/>
          </a:prstGeom>
          <a:solidFill>
            <a:srgbClr val="647184"/>
          </a:solidFill>
          <a:ln w="12700">
            <a:solidFill>
              <a:srgbClr val="64718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528048" y="4059936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anchor / report</a:t>
            </a:r>
            <a:endParaRPr lang="en-US" sz="920" dirty="0"/>
          </a:p>
        </p:txBody>
      </p:sp>
      <p:sp>
        <p:nvSpPr>
          <p:cNvPr id="23" name="Text 20"/>
          <p:cNvSpPr txBox="1"/>
          <p:nvPr/>
        </p:nvSpPr>
        <p:spPr>
          <a:xfrm>
            <a:off x="9528048" y="426110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device 외 입력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868680" y="5504688"/>
            <a:ext cx="10469880" cy="548640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33272" y="5596128"/>
            <a:ext cx="10140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provider raw field → portable raw field → preprocessing → normalized input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619963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 추가 원본: Apple RHR·HRV(SDNN)·운동/HRR, Samsung HRV(RMSSD/SDNN)·운동/회복 정보. ‘일반 심박’은 RHR로 바꾸지 않는다. 산식은 여전히 normalized input만 받는다.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Device → normalized mapping · I1 / I2 + v6 보강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아래의 raw field가 어떤 계산 요소로 변환되는지 구현 단위로 표시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201400" cy="4526280"/>
        </p:xfrm>
        <a:graphic>
          <a:graphicData uri="http://schemas.openxmlformats.org/drawingml/2006/table">
            <a:tbl>
              <a:tblPr/>
              <a:tblGrid>
                <a:gridCol w="1234440"/>
                <a:gridCol w="3017520"/>
                <a:gridCol w="3767328"/>
                <a:gridCol w="31821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element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provider raw field → portable field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preprocessing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formula input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I1 CE01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I2 CE03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Apple: Record@startDate/endDate/value/unit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Samsung: step_daily_trend day_time/count 또는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pedometer...start_time/end_time/count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→ day/start/end/value/unit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unit 변환 → local day 집계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중복·겹침 제거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missing/nonwear는 null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daily_steps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I1 CE02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Apple: StepCount Record@startDate/endDate/value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Samsung: pedometer...start_time/end_time/count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 exercise...start_time/end_time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→ start/end/state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observed 구간 합집합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movement duration 합산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coverage completeness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movement_minutes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timeline_complete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I1 CE03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I2 CE04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Apple/Samsung interval step fields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(위 CE02와 동일)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 partition_edges는 device 원본 아님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→ state=movement + partition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local day를 partition으로 분할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활동 partition 수·최대 집중도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분산 credit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active_partition_count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partition_count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activity_concentration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movement_distribution_credit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I1 CE04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Apple: SleepAnalysis Record@startDate/endDate/value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Samsung: sleep... start_time/end_time/sleep_duration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→ start/end/observation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wake-day 규칙으로 episode 합침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reference duration 차감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reported interval은 bounds 보존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sleep_shortfall_minutes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64718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I1 CE05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v6 선택 보강: HRV·RHR·수면 단계·운동 회복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조건이 맞을 때만 I1에 반영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90" b="1" dirty="0">
                          <a:solidFill>
                            <a:srgbClr val="64718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sleep/activity modifier</a:t>
                      </a:r>
                      <a:endParaRPr lang="en-US" sz="89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94944" y="607161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I1 rich와 I2 분산성분은 완전한 movement timeline이 있을 때만 계산한다. v6 HRV/RHR는 같은 기기·지표·측정 맥락의 개인 기준선이 있을 때만 보강에 쓴다.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Device → normalized mapping · I2 / I3 + v6 생리 안전장치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device-only와 context 결합 변수를 구분해서 전달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61872"/>
          <a:ext cx="11201400" cy="4526280"/>
        </p:xfrm>
        <a:graphic>
          <a:graphicData uri="http://schemas.openxmlformats.org/drawingml/2006/table">
            <a:tbl>
              <a:tblPr/>
              <a:tblGrid>
                <a:gridCol w="1234440"/>
                <a:gridCol w="2880360"/>
                <a:gridCol w="3995928"/>
                <a:gridCol w="309067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element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device raw field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추가 context / 정책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formula input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D7655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I2 CE01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Apple: StepCount Record@startDate/endDate/value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Samsung: pedometer...start_time/end_time/count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→ movement event / state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anchor_time + stratum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follow-up window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structured report는 선택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D7655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post_anchor_action_credit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1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I2 CE02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Apple/Samsung timestamped step interval fields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→ movement + observed/missing/nonwear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(nonwear/state는 전처리 판정)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eligible_intervals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minimum low-movement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follow-up window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inactivity_break_credit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I3 CE01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I2에서 파생된 action rows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원본 device field가 아니라 전처리 결과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21일 baseline / 7일 recent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동일 stratum · 완결 window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action_connection_delta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I3 CE02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Apple: StepCount Record@startDate/endDate/value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Samsung: step_daily_trend day_time/count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→ day/value/unit/observation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21일 baseline / 7일 recent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최소 15일 / 5일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recorded_volume_direction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64718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I3 CE03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직접 device field 없음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target meaning, 동일 층, 비교 가능성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measurement-definition break 확인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64718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target_channel_comparable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I3 CE04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Apple: RestingHeartRate + HRV(SDNN)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Samsung: RHR로 명시된 값 + HRV(RMSSD/SDNN)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같은 기기·지표·측정 맥락의 개인 기준선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RHR 상승 + HRV 저하가 함께일 때만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same-lane baseline check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7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부족하면 unknown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7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positive_context_conflict</a:t>
                      </a:r>
                      <a:endParaRPr lang="en-US" sz="87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85800" y="6071616"/>
            <a:ext cx="10835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핵심: I2의 식후 성분은 식사 시각이 있어야 열리고, I3 행동 변화는 비교 가능한 기회 정의가 있어야 한다. 둘 다 없으면 ‘실패’로 만들지 않고 해당 성분을 보류한다.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v5.7 기본 요소 + v6 보강 신호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변수명 옆의 쉬운 뜻을 기준으로 전처리한다. 원본 필드명 자체가 산식 입력은 아니다.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1018520" cy="3822192"/>
        </p:xfrm>
        <a:graphic>
          <a:graphicData uri="http://schemas.openxmlformats.org/drawingml/2006/table">
            <a:tbl>
              <a:tblPr/>
              <a:tblGrid>
                <a:gridCol w="3675888"/>
                <a:gridCol w="3675888"/>
                <a:gridCol w="366674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I1 · 생활 여유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I2 · 일상 행동 연결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I3 · 개인 기준 변화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2057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CE01  daily_steps
하루 총걸음수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CE02  movement_minutes
움직임이 실제 관측된 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CE03  activity_concentration
활동이 한 구간에 몰린 정도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      active_partition_count / partition_count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CE04  sleep_shortfall_minutes
기준보다 부족한 수면 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v6 보강  sleep/activity modifier
수면·회복 신호의 제한된 보정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CE01  post_anchor_action_credit
식사 뒤 움직임 credit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CE02  inactivity_break_credit
긴 비활동 뒤 재움직임 credit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CE03  daily_steps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CE04  movement_distribution_credit
하루에 고르게 움직인 credit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CE01  action_connection_delta
최근 행동 연결의 변화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CE02  recorded_volume_direction
최근 기록량의 증가/감소 방향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CE03  target_channel_comparable
전후 비교가 가능한지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v6 guard  positive_context_conflict
행동을 과대해석하지 않을 조건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기본 풍부 입력: movement timeline + sleep
v6 선택: 수면 단계·운동회복·HRV/RHR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저해상도 경로: daily_steps만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기회 credit은 0~1 또는 [low, high]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미확인 행동은 실패로 치환하지 않음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action / recorded 두 채널 분리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비교 불가 channel은 선택에서 제외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58368" y="5550408"/>
            <a:ext cx="10881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이름의 의미는 고정한다. 예: HRV는 ‘박동 사이 간격 변화’이며, Apple SDNN과 Samsung RMSSD/SDNN을 섞어 개인 기준선을 만들지 않는다.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233672" y="6016752"/>
            <a:ext cx="3703320" cy="292608"/>
          </a:xfrm>
          <a:prstGeom prst="roundRect">
            <a:avLst/>
          </a:prstGeom>
          <a:solidFill>
            <a:srgbClr val="E4F2E8"/>
          </a:solidFill>
          <a:ln w="12700">
            <a:solidFill>
              <a:srgbClr val="E4F2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06824" y="6035040"/>
            <a:ext cx="3557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8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v5.7 base + v6 optional enrichment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I1 · 생활 여유 · v6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v5.7 기본점수에 수면·운동 보강을 조건부로 더한다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07592"/>
            <a:ext cx="5486400" cy="566928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399032"/>
            <a:ext cx="5157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I1 v6 = clip(I1 v5.7 + sleep_modifier + activity_modifier, 0, 100)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1993392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I1 v5.7 base = min(evidence_cap, 35 + 55 × weighted_mean)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보강은 수면 최대 ±8점 · 운동회복 최대 ±6점 (없으면 0점)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2926080"/>
          <a:ext cx="6583680" cy="2331720"/>
        </p:xfrm>
        <a:graphic>
          <a:graphicData uri="http://schemas.openxmlformats.org/drawingml/2006/table">
            <a:tbl>
              <a:tblPr/>
              <a:tblGrid>
                <a:gridCol w="502920"/>
                <a:gridCol w="2331720"/>
                <a:gridCol w="3749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기호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정규화 변수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계산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sleep_shortfall_minutes
기준보다 부족한 수면 분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clip(1 − shortfall / 120, 0, 1)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active_partition_count / partition_count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+ activity_concentration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spread × clip((1 − concentration) / .75)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B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movement_minutes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activity_concentration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.5·(1−clip((m−240)/240)) + .5·(1−clip((c−.50)/.50))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40" b="1" dirty="0">
                          <a:solidFill>
                            <a:srgbClr val="D7655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movement_minutes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clip(movement_minutes / 90, 0, 1)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571232" y="1307592"/>
            <a:ext cx="3959352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15910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D72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저해상도 경로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818120" y="1938528"/>
            <a:ext cx="3456432" cy="658368"/>
          </a:xfrm>
          <a:prstGeom prst="roundRect">
            <a:avLst/>
          </a:prstGeom>
          <a:solidFill>
            <a:srgbClr val="4D72C6"/>
          </a:solidFill>
          <a:ln w="12700">
            <a:solidFill>
              <a:srgbClr val="4D72C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82712" y="202996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I1_record_proxy = piecewise_linear(daily_steps)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891272" y="2852928"/>
            <a:ext cx="3246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 → 35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3,000 → 47.25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6,000 → 57.75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10,000 → 68.25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12,000 → 70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15,000 → 66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20,000 → 58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4462272"/>
            <a:ext cx="3447288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818120" y="46451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daily_steps만 있으면 volume proxy로 표시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 보강 자료가 없으면 I1은 v5.7 기본점수로 계산한다. 누락을 0으로 채우지 않는다.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94944" y="5687568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RHR가 평소보다 높고 HRV가 평소보다 낮은 신호가 같은 조건에서 함께 확인되면 I1 상한은 70이다. 이는 질환 판정이 아니다.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" y="601675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수면 미확인: sleep component 없음 · timeline 미완료: rich movement component 없음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I2 · 일상 행동 연결 · v5.7과 동일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하루 행동 맥락을 credit으로 바꾸고 근거 수준에 따라 상한을 둔다. HRV/RHR는 I2 점수에 넣지 않는다.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298448"/>
            <a:ext cx="5715000" cy="566928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389888"/>
            <a:ext cx="5385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I2 = weighted_mean(available credits) × evidence_cap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121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성분 가중치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963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daily_step_volume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27248" y="2551176"/>
            <a:ext cx="2651760" cy="146304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27248" y="2551176"/>
            <a:ext cx="2651760" cy="146304"/>
          </a:xfrm>
          <a:prstGeom prst="rect">
            <a:avLst/>
          </a:prstGeom>
          <a:solidFill>
            <a:srgbClr val="4D72C6"/>
          </a:solidFill>
          <a:ln w="12700">
            <a:solidFill>
              <a:srgbClr val="4D72C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0" y="24780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72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55%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718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postmeal_activity_timing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27248" y="3026664"/>
            <a:ext cx="2651760" cy="146304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3026664"/>
            <a:ext cx="964276" cy="146304"/>
          </a:xfrm>
          <a:prstGeom prst="rect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29535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20%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4472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inactivity_break_reactivation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127248" y="3502152"/>
            <a:ext cx="2651760" cy="146304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3502152"/>
            <a:ext cx="723207" cy="146304"/>
          </a:xfrm>
          <a:prstGeom prst="rect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34290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15%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392277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movement_distribution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127248" y="3977640"/>
            <a:ext cx="2651760" cy="146304"/>
          </a:xfrm>
          <a:prstGeom prst="rect">
            <a:avLst/>
          </a:prstGeom>
          <a:solidFill>
            <a:srgbClr val="E9EDF2"/>
          </a:solidFill>
          <a:ln w="12700">
            <a:solidFill>
              <a:srgbClr val="E9ED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127248" y="3977640"/>
            <a:ext cx="482138" cy="146304"/>
          </a:xfrm>
          <a:prstGeom prst="rect">
            <a:avLst/>
          </a:prstGeom>
          <a:solidFill>
            <a:srgbClr val="B98729"/>
          </a:solidFill>
          <a:ln w="12700">
            <a:solidFill>
              <a:srgbClr val="B9872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0" y="3904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872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1298448"/>
            <a:ext cx="4709160" cy="3950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14032" y="1609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cap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4032" y="1993392"/>
          <a:ext cx="3977640" cy="1417320"/>
        </p:xfrm>
        <a:graphic>
          <a:graphicData uri="http://schemas.openxmlformats.org/drawingml/2006/table">
            <a:tbl>
              <a:tblPr/>
              <a:tblGrid>
                <a:gridCol w="251460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입력 상태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daily_steps만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85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일부 맥락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계산된 cap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전체 4성분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8E5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100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8E5A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7114032" y="373075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step credit curve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132320" y="40416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0→0   3,000→.35   6,000→.65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10,000→.95   12,000 이상→1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713232" y="53492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미확인 credit은 [low, high]로 전달하고 midpoint를 만들지 않는다. ‘정보 없음’을 ‘행동하지 않음’으로 바꾸지 않는다.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14400" y="5742432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기회 목록 자체가 불완전하면 정밀한 비율을 계산하지 않는다.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I2 세부 입력의 계산 방법 · 식사 시각을 포함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변수 모두 device raw field를 먼저 movement interval로 만들고, 각 변수별 규칙으로 credit을 계산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43584"/>
            <a:ext cx="3648456" cy="4919472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FBE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" y="144475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postmeal_activity_timing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173736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post_anchor_action_credit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67512" y="2002536"/>
            <a:ext cx="3319272" cy="0"/>
          </a:xfrm>
          <a:prstGeom prst="line">
            <a:avLst/>
          </a:prstGeom>
          <a:noFill/>
          <a:ln w="12700">
            <a:solidFill>
              <a:srgbClr val="D7655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7512" y="2121408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device field</a:t>
            </a:r>
            <a:endParaRPr lang="en-US" sz="97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2322576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Apple StepCount: Record@type · @startDate · @endDate · @value · @unit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Samsung: com.samsung.shealth.tracker.pedometer_step_count*.csv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com.samsung.health.step_count.time_offset/start_time/end_time/count</a:t>
            </a:r>
            <a:endParaRPr lang="en-US" sz="845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044952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device 외 입력</a:t>
            </a:r>
            <a:endParaRPr lang="en-US" sz="97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32461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식사 시각(anchor_time) · 식사 구분(stratum) · 후속 관찰 시간(followup_minutes)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structured report outcome은 선택 입력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3813048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파생 규칙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49224" y="4014216"/>
            <a:ext cx="3355848" cy="1115568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" y="4105656"/>
            <a:ext cx="30266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창 = [anchor_time, anchor_time + F]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겹치면 가장 최근 이전 anchor에 1회 배정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 = 관측 movement duration (분)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credit = clip(d / 10, 0, 1)</a:t>
            </a:r>
            <a:endParaRPr lang="en-US" sz="925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5285232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97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5477256"/>
            <a:ext cx="3319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 창 안 movement가 있으면 completed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구조화 report completed는 credit = 1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완전 관측된 미실행은 credit = 0</a:t>
            </a:r>
            <a:endParaRPr lang="en-US" sz="835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5943600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5" i="1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창 일부 미관측이면 unknown → [low, high]</a:t>
            </a:r>
            <a:endParaRPr lang="en-US" sz="795" dirty="0"/>
          </a:p>
        </p:txBody>
      </p:sp>
      <p:sp>
        <p:nvSpPr>
          <p:cNvPr id="20" name="Shape 18"/>
          <p:cNvSpPr/>
          <p:nvPr/>
        </p:nvSpPr>
        <p:spPr>
          <a:xfrm>
            <a:off x="4270248" y="1243584"/>
            <a:ext cx="3648456" cy="4919472"/>
          </a:xfrm>
          <a:prstGeom prst="roundRect">
            <a:avLst/>
          </a:prstGeom>
          <a:solidFill>
            <a:srgbClr val="DDF2EF"/>
          </a:solidFill>
          <a:ln w="12700">
            <a:solidFill>
              <a:srgbClr val="DDF2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34840" y="144475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inactivity_break_reactivation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173736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inactivity_break_credit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34840" y="2002536"/>
            <a:ext cx="3319272" cy="0"/>
          </a:xfrm>
          <a:prstGeom prst="line">
            <a:avLst/>
          </a:prstGeom>
          <a:noFill/>
          <a:ln w="12700">
            <a:solidFill>
              <a:srgbClr val="198A8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434840" y="2121408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device field</a:t>
            </a:r>
            <a:endParaRPr lang="en-US" sz="97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2322576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Apple: Record@startDate · @endDate · @value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Samsung: com.samsung.shealth.tracker.pedometer_step_count*.csv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com.samsung.health.step_count.time_offset/start_time/end_time/count</a:t>
            </a:r>
            <a:endParaRPr lang="en-US" sz="845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3044952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device 외 입력</a:t>
            </a:r>
            <a:endParaRPr lang="en-US" sz="970" dirty="0"/>
          </a:p>
        </p:txBody>
      </p:sp>
      <p:sp>
        <p:nvSpPr>
          <p:cNvPr id="27" name="Text 25"/>
          <p:cNvSpPr txBox="1"/>
          <p:nvPr/>
        </p:nvSpPr>
        <p:spPr>
          <a:xfrm>
            <a:off x="4434840" y="32461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eligible_intervals · minimum_low_movement_minutes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 관찰 시간(followup_minutes) · stratum</a:t>
            </a:r>
            <a:endParaRPr lang="en-US" sz="860" dirty="0"/>
          </a:p>
        </p:txBody>
      </p:sp>
      <p:sp>
        <p:nvSpPr>
          <p:cNvPr id="28" name="Text 26"/>
          <p:cNvSpPr txBox="1"/>
          <p:nvPr/>
        </p:nvSpPr>
        <p:spPr>
          <a:xfrm>
            <a:off x="4434840" y="3813048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파생 규칙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4416552" y="4014216"/>
            <a:ext cx="3355848" cy="1115568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81144" y="4105656"/>
            <a:ext cx="30266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coverage = observed ∩ eligible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low = coverage − movement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anchor = low 시작 + minimum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reactivation = follow-up 창의 movement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credit = clip(duration분 / 10, 0, 1)</a:t>
            </a:r>
            <a:endParaRPr lang="en-US" sz="925" dirty="0"/>
          </a:p>
        </p:txBody>
      </p:sp>
      <p:sp>
        <p:nvSpPr>
          <p:cNvPr id="31" name="Text 29"/>
          <p:cNvSpPr txBox="1"/>
          <p:nvPr/>
        </p:nvSpPr>
        <p:spPr>
          <a:xfrm>
            <a:off x="4434840" y="5285232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970" dirty="0"/>
          </a:p>
        </p:txBody>
      </p:sp>
      <p:sp>
        <p:nvSpPr>
          <p:cNvPr id="32" name="Text 30"/>
          <p:cNvSpPr txBox="1"/>
          <p:nvPr/>
        </p:nvSpPr>
        <p:spPr>
          <a:xfrm>
            <a:off x="4434840" y="5477256"/>
            <a:ext cx="3319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수면·미관측 시간은 opportunity에서 제외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low 구간이 임계값에 도달할 때만 기회 생성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완전 관측된 미재활동은 0</a:t>
            </a:r>
            <a:endParaRPr lang="en-US" sz="835" dirty="0"/>
          </a:p>
        </p:txBody>
      </p:sp>
      <p:sp>
        <p:nvSpPr>
          <p:cNvPr id="33" name="Text 31"/>
          <p:cNvSpPr txBox="1"/>
          <p:nvPr/>
        </p:nvSpPr>
        <p:spPr>
          <a:xfrm>
            <a:off x="4434840" y="5943600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5" i="1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eligible window coverage 부족이면 credit = null</a:t>
            </a:r>
            <a:endParaRPr lang="en-US" sz="795" dirty="0"/>
          </a:p>
        </p:txBody>
      </p:sp>
      <p:sp>
        <p:nvSpPr>
          <p:cNvPr id="34" name="Shape 32"/>
          <p:cNvSpPr/>
          <p:nvPr/>
        </p:nvSpPr>
        <p:spPr>
          <a:xfrm>
            <a:off x="8037576" y="1243584"/>
            <a:ext cx="3648456" cy="4919472"/>
          </a:xfrm>
          <a:prstGeom prst="roundRect">
            <a:avLst/>
          </a:prstGeom>
          <a:solidFill>
            <a:srgbClr val="F8EED4"/>
          </a:solidFill>
          <a:ln w="12700">
            <a:solidFill>
              <a:srgbClr val="F8EED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02168" y="1444752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B9872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movement_distribution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02168" y="1737360"/>
            <a:ext cx="3319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movement_distribution_credit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202168" y="2002536"/>
            <a:ext cx="3319272" cy="0"/>
          </a:xfrm>
          <a:prstGeom prst="line">
            <a:avLst/>
          </a:prstGeom>
          <a:noFill/>
          <a:ln w="12700">
            <a:solidFill>
              <a:srgbClr val="B98729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02168" y="2121408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9872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원본 device field</a:t>
            </a:r>
            <a:endParaRPr lang="en-US" sz="970" dirty="0"/>
          </a:p>
        </p:txBody>
      </p:sp>
      <p:sp>
        <p:nvSpPr>
          <p:cNvPr id="39" name="Text 37"/>
          <p:cNvSpPr txBox="1"/>
          <p:nvPr/>
        </p:nvSpPr>
        <p:spPr>
          <a:xfrm>
            <a:off x="8202168" y="2322576"/>
            <a:ext cx="3319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Apple: HKQuantityTypeIdentifierStepCount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Record@startDate · @endDate · @value · @unit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Samsung: com.samsung.health.step_count.*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start_time · end_time · count</a:t>
            </a:r>
            <a:endParaRPr lang="en-US" sz="845" dirty="0"/>
          </a:p>
          <a:p>
            <a:pPr algn="l" indent="0" marL="0">
              <a:buNone/>
            </a:pPr>
            <a:r>
              <a:rPr lang="en-US" sz="84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※ daily total만으로는 계산하지 않음</a:t>
            </a:r>
            <a:endParaRPr lang="en-US" sz="845" dirty="0"/>
          </a:p>
        </p:txBody>
      </p:sp>
      <p:sp>
        <p:nvSpPr>
          <p:cNvPr id="40" name="Text 38"/>
          <p:cNvSpPr txBox="1"/>
          <p:nvPr/>
        </p:nvSpPr>
        <p:spPr>
          <a:xfrm>
            <a:off x="8202168" y="3044952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9872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device 외 입력</a:t>
            </a:r>
            <a:endParaRPr lang="en-US" sz="970" dirty="0"/>
          </a:p>
        </p:txBody>
      </p:sp>
      <p:sp>
        <p:nvSpPr>
          <p:cNvPr id="41" name="Text 39"/>
          <p:cNvSpPr txBox="1"/>
          <p:nvPr/>
        </p:nvSpPr>
        <p:spPr>
          <a:xfrm>
            <a:off x="8202168" y="32461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partition_edges = local day 구간 경계</a:t>
            </a:r>
            <a:endParaRPr lang="en-US" sz="860" dirty="0"/>
          </a:p>
          <a:p>
            <a:pPr algn="l" indent="0" marL="0">
              <a:buNone/>
            </a:pPr>
            <a:r>
              <a:rPr lang="en-US" sz="86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예: [0, 360, 720, 1080, 1440]분</a:t>
            </a:r>
            <a:endParaRPr lang="en-US" sz="860" dirty="0"/>
          </a:p>
        </p:txBody>
      </p:sp>
      <p:sp>
        <p:nvSpPr>
          <p:cNvPr id="42" name="Text 40"/>
          <p:cNvSpPr txBox="1"/>
          <p:nvPr/>
        </p:nvSpPr>
        <p:spPr>
          <a:xfrm>
            <a:off x="8202168" y="3813048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9872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파생 규칙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8183880" y="4014216"/>
            <a:ext cx="3355848" cy="1115568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348472" y="4105656"/>
            <a:ext cx="302666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mᵢ = movement ∩ partitionᵢ의 분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 = Σmᵢ · A = count(mᵢ ≥ 10)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 = max(mᵢ) / M</a:t>
            </a:r>
            <a:endParaRPr lang="en-US" sz="925" dirty="0"/>
          </a:p>
          <a:p>
            <a:pPr algn="l" indent="0" marL="0">
              <a:buNone/>
            </a:pPr>
            <a:r>
              <a:rPr lang="en-US" sz="925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credit = (A / P) × clip((1 − C) / .75, 0, 1)</a:t>
            </a:r>
            <a:endParaRPr lang="en-US" sz="925" dirty="0"/>
          </a:p>
        </p:txBody>
      </p:sp>
      <p:sp>
        <p:nvSpPr>
          <p:cNvPr id="45" name="Text 43"/>
          <p:cNvSpPr txBox="1"/>
          <p:nvPr/>
        </p:nvSpPr>
        <p:spPr>
          <a:xfrm>
            <a:off x="8202168" y="5285232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B9872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970" dirty="0"/>
          </a:p>
        </p:txBody>
      </p:sp>
      <p:sp>
        <p:nvSpPr>
          <p:cNvPr id="46" name="Text 44"/>
          <p:cNvSpPr txBox="1"/>
          <p:nvPr/>
        </p:nvSpPr>
        <p:spPr>
          <a:xfrm>
            <a:off x="8202168" y="5477256"/>
            <a:ext cx="331927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 = 0이면 credit = 0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 = partition 개수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완전한 24시간 timeline에서만 산출</a:t>
            </a:r>
            <a:endParaRPr lang="en-US" sz="835" dirty="0"/>
          </a:p>
        </p:txBody>
      </p:sp>
      <p:sp>
        <p:nvSpPr>
          <p:cNvPr id="47" name="Text 45"/>
          <p:cNvSpPr txBox="1"/>
          <p:nvPr/>
        </p:nvSpPr>
        <p:spPr>
          <a:xfrm>
            <a:off x="8202168" y="5943600"/>
            <a:ext cx="3319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5" i="1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timeline 불완전이면 credit = null</a:t>
            </a:r>
            <a:endParaRPr lang="en-US" sz="795" dirty="0"/>
          </a:p>
        </p:txBody>
      </p:sp>
      <p:sp>
        <p:nvSpPr>
          <p:cNvPr id="48" name="Text 46"/>
          <p:cNvSpPr txBox="1"/>
          <p:nvPr/>
        </p:nvSpPr>
        <p:spPr>
          <a:xfrm>
            <a:off x="658368" y="6281928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식사 시각이 없으면 식후 credit만 보류한다. 걸음수·비활동 해제·분산 credit은 각자 필요한 관측이 있으면 별도로 계산한다.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I3 · 개인 기준 변화 · v6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연결 변화와 기록량 방향을 분리해 표시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5230368" cy="4160520"/>
          </a:xfrm>
          <a:prstGeom prst="roundRect">
            <a:avLst/>
          </a:prstGeom>
          <a:solidFill>
            <a:srgbClr val="DDF2EF"/>
          </a:solidFill>
          <a:ln w="12700">
            <a:solidFill>
              <a:srgbClr val="DDF2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91072" y="1325880"/>
            <a:ext cx="5230368" cy="4160520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1627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action connection channel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32688" y="2084832"/>
            <a:ext cx="4663440" cy="603504"/>
          </a:xfrm>
          <a:prstGeom prst="roundRect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176272"/>
            <a:ext cx="4334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+ clip(20 × Δaction, −35, cap)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9264" y="290779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Δaction = recent 7일 연결률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− baseline 21일 연결률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50976" y="38862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기준층 비중으로 가중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 불가이면 action channel 보류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32688" y="4828032"/>
            <a:ext cx="4370832" cy="292608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FBE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846320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v6: 같은 조건에서 RHR↑ + HRV↓가 함께면 positive context conflict → action 상한 60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1627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72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recorded volume channel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65392" y="2084832"/>
            <a:ext cx="4617720" cy="603504"/>
          </a:xfrm>
          <a:prstGeom prst="roundRect">
            <a:avLst/>
          </a:prstGeom>
          <a:solidFill>
            <a:srgbClr val="4D72C6"/>
          </a:solidFill>
          <a:ln w="12700">
            <a:solidFill>
              <a:srgbClr val="4D72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9984" y="2176272"/>
            <a:ext cx="4288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+ 20 × recorded_volume_direction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601968" y="2907792"/>
            <a:ext cx="4434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recorded_volume_direction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 최근 7일 vs 기준 21일의 비교 방향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8862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최소 기준: baseline 15일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recent 5일 · 동일 의미의 기록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65392" y="4828032"/>
            <a:ext cx="4370832" cy="292608"/>
          </a:xfrm>
          <a:prstGeom prst="roundRect">
            <a:avLst/>
          </a:prstGeom>
          <a:solidFill>
            <a:srgbClr val="F8EED4"/>
          </a:solidFill>
          <a:ln w="12700">
            <a:solidFill>
              <a:srgbClr val="F8EE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38544" y="4846320"/>
            <a:ext cx="42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8729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기록량 변화는 건강 상태 해석이 아니다. HRV/RHR 결합도 건강 진단이 아니라 긍정 행동점수 과대해석을 막는 안전장치다.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5824728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I3는 I1·I2 점수를 평균내지 않는다. primary channel을 선택하고 두 채널의 의미를 보존한다.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특수 입력 + v6 개인 기준선의 수집·파생 계약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변수의 실제 수집 채널이 산식 안에 들어가는 것은 아니다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" y="1261872"/>
          <a:ext cx="11045952" cy="4553712"/>
        </p:xfrm>
        <a:graphic>
          <a:graphicData uri="http://schemas.openxmlformats.org/drawingml/2006/table">
            <a:tbl>
              <a:tblPr/>
              <a:tblGrid>
                <a:gridCol w="1874520"/>
                <a:gridCol w="1554480"/>
                <a:gridCol w="761695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변수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입력 성격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현재 계약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D7655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anchor_time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식사 기록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식사 시각을 upstream이 제공한다. 현재 산식은 식사를 자동 추정하지 않는다.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디바이스 움직임으로 자동 추론하지 않음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198A87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stratum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파생 범주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식사 종류·시간대를 taxonomy로 분류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예: meal_morning, meal_lunch, meal_evening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eligible_intervals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정책/설정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탐색 가능한 routine interval을 명시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수면·미관측 시간은 제외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personal baseline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physiology alignment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정책값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같은 device·metric·context의 과거값으로 개인 기준선을 만든다.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최소 3일이 없거나 맥락이 unknown이면 사용하지 않는다.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3C8E5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target_channel_comparable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판정 결과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동일 의미·동일 층·충분한 기간인지 비교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사용자 입력이나 raw field가 아님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D7655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structured report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선택 입력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특정 기회에 연결된 completed / not_completed / unknown. 식후 행동을 직접 물을 때만 쓰는 선택 입력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질문 문구·노출 시점은 산식 범위 밖</a:t>
                      </a:r>
                      <a:endParaRPr lang="en-US" sz="104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6089904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질문은 필수 입력이 아니다. 다만 식사 시각이 있으면 I2 식후 성분을 계산할 수 있다. v6 개인 기준선은 설문이 아니라 디바이스의 비교 가능한 과거 관측으로 만든다.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결측·불확실성 처리 · v6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관측되지 않은 사실을 실패나 정상으로 임의 변환하지 않는다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53312"/>
          <a:ext cx="10881360" cy="3456432"/>
        </p:xfrm>
        <a:graphic>
          <a:graphicData uri="http://schemas.openxmlformats.org/drawingml/2006/table">
            <a:tbl>
              <a:tblPr/>
              <a:tblGrid>
                <a:gridCol w="1920240"/>
                <a:gridCol w="3429000"/>
                <a:gridCol w="55321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상태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예시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계산 결과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C8E5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observed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걸음 0, 움직임 0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유효한 0으로 계산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missing과 구분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B98729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missing / nonwear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E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coverage 없음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센서 미착용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정규화 단계에서 상태 보존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formula에는 null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D76558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unknown follow-up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E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후속 창 일부 미관측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응답 미수신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I2 credit [low, high]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midpoint 없음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D72C6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interval uncertainty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sleep [6h, 7.5h]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action delta 범위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I1/I3 score_bounds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point score는 null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47184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non-comparable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device/metric/context 불일치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개인 기준선 부족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v6 보강 보류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D2733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v5.7 기본 channel은 독립 유지</a:t>
                      </a:r>
                      <a:endParaRPr lang="en-US" sz="11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73152" marR="73152" marT="73152" marB="73152" anchor="ctr">
                    <a:lnL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" y="5285232"/>
            <a:ext cx="2743200" cy="502920"/>
          </a:xfrm>
          <a:prstGeom prst="roundRect">
            <a:avLst/>
          </a:prstGeom>
          <a:solidFill>
            <a:srgbClr val="D76558"/>
          </a:solidFill>
          <a:ln w="12700">
            <a:solidFill>
              <a:srgbClr val="D7655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05840" y="5376672"/>
            <a:ext cx="2414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unknown ≠ failed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050792" y="5285232"/>
            <a:ext cx="2423160" cy="502920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15384" y="5376672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null ≠ zero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903720" y="5285232"/>
            <a:ext cx="3063240" cy="502920"/>
          </a:xfrm>
          <a:prstGeom prst="roundRect">
            <a:avLst/>
          </a:prstGeom>
          <a:solidFill>
            <a:srgbClr val="198A87"/>
          </a:solidFill>
          <a:ln w="12700">
            <a:solidFill>
              <a:srgbClr val="198A8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068312" y="5376672"/>
            <a:ext cx="2734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bounds ≠ midpoint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603504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범위는 신뢰구간이 아니라 관측 가능한 성분 조합의 점수 범위다. v6 보강 자료가 없으면 기본 산식으로 돌아가며, 누락값을 0으로 치환하지 않는다.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개발팀 전달 계약 · v6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구현자는 아래 의미 입력을 만든다. raw provider payload를 formula에 직접 넣지 않는다.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25880"/>
            <a:ext cx="3456432" cy="3584448"/>
          </a:xfrm>
          <a:prstGeom prst="roundRect">
            <a:avLst/>
          </a:prstGeom>
          <a:solidFill>
            <a:srgbClr val="DDF2EF"/>
          </a:solidFill>
          <a:ln w="12700">
            <a:solidFill>
              <a:srgbClr val="DDF2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86968" y="2020824"/>
            <a:ext cx="2999232" cy="0"/>
          </a:xfrm>
          <a:prstGeom prst="line">
            <a:avLst/>
          </a:prstGeom>
          <a:noFill/>
          <a:ln w="12700">
            <a:solidFill>
              <a:srgbClr val="198A8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240280"/>
            <a:ext cx="29443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record_proxy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mode, daily_steps }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rich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timeline_complete,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movement_minutes,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active_partition_count,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partition_count,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activity_concentration,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sleep_shortfall_minutes 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1325880"/>
            <a:ext cx="3456432" cy="3584448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FBE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99432" y="2020824"/>
            <a:ext cx="2999232" cy="0"/>
          </a:xfrm>
          <a:prstGeom prst="line">
            <a:avLst/>
          </a:prstGeom>
          <a:noFill/>
          <a:ln w="12700">
            <a:solidFill>
              <a:srgbClr val="D7655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26864" y="2240280"/>
            <a:ext cx="29443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daily_steps,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post_anchor_action_credit,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inactivity_break_credit,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movement_distribution_credit }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credit: 0~1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or [low, high]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83296" y="1325880"/>
            <a:ext cx="3456432" cy="358444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11896" y="152704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D72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311896" y="2020824"/>
            <a:ext cx="2999232" cy="0"/>
          </a:xfrm>
          <a:prstGeom prst="line">
            <a:avLst/>
          </a:prstGeom>
          <a:noFill/>
          <a:ln w="12700">
            <a:solidFill>
              <a:srgbClr val="4D72C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39328" y="2240280"/>
            <a:ext cx="294436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 action_connection_delta,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recorded_volume_direction,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target_channel_comparable,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positive_context_conflict }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delta: -1~1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1D2733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conflict: true / false / null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5321808"/>
            <a:ext cx="10259568" cy="658368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34440" y="551383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v6 optional은 전처리 뒤에만 전달한다: sleep/activity modifier(-1~1)와 same-lane physiology_alignment. formula는 raw provider payload를 직접 받지 않는다.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개발팀 공유용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960120" y="173736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v6.0 내부 공유 상태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969264" y="640080"/>
            <a:ext cx="10241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v5.7 기본점수와 v6 선택 보강의 의미 계약을 개발팀에 전달한다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987552"/>
            <a:ext cx="11183112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17320"/>
            <a:ext cx="2487168" cy="1298448"/>
          </a:xfrm>
          <a:prstGeom prst="roundRect">
            <a:avLst/>
          </a:prstGeom>
          <a:solidFill>
            <a:srgbClr val="DDF2EF"/>
          </a:solidFill>
          <a:ln w="12700">
            <a:solidFill>
              <a:srgbClr val="DDF2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66420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98A8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v5.7 base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5798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formula elements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11296" y="1417320"/>
            <a:ext cx="2487168" cy="1298448"/>
          </a:xfrm>
          <a:prstGeom prst="roundRect">
            <a:avLst/>
          </a:prstGeom>
          <a:solidFill>
            <a:srgbClr val="E7EEFF"/>
          </a:solidFill>
          <a:ln w="12700">
            <a:solidFill>
              <a:srgbClr val="E7E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75888" y="166420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72C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 optional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675888" y="215798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 optional preprocessing rules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64224" y="1417320"/>
            <a:ext cx="2487168" cy="1298448"/>
          </a:xfrm>
          <a:prstGeom prst="roundRect">
            <a:avLst/>
          </a:prstGeom>
          <a:solidFill>
            <a:srgbClr val="E4F2E8"/>
          </a:solidFill>
          <a:ln w="12700">
            <a:solidFill>
              <a:srgbClr val="E4F2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28816" y="166420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C8E5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provider별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528816" y="215798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fixture acceptance 필요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217152" y="1417320"/>
            <a:ext cx="2487168" cy="1298448"/>
          </a:xfrm>
          <a:prstGeom prst="roundRect">
            <a:avLst/>
          </a:prstGeom>
          <a:solidFill>
            <a:srgbClr val="FBE5E1"/>
          </a:solidFill>
          <a:ln w="12700">
            <a:solidFill>
              <a:srgbClr val="FBE5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81744" y="1664208"/>
            <a:ext cx="21579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7655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unit / golden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9381744" y="215798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regression tests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78992" y="3383280"/>
            <a:ext cx="9985248" cy="0"/>
          </a:xfrm>
          <a:prstGeom prst="line">
            <a:avLst/>
          </a:prstGeom>
          <a:noFill/>
          <a:ln w="12700">
            <a:solidFill>
              <a:srgbClr val="D8DEE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운영팀이 받는 것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187952"/>
            <a:ext cx="2971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v5.7 기본 산식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v6 보강 규칙과 fallback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정규화 입력의 쉬운 뜻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결측·비교불가 처리 계약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저장소가 추적하지 않는 것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4187952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provider parser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수집·인증·저장·사용자 격리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배포·모니터링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D273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 문구와 노출 정책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23960" y="3950208"/>
            <a:ext cx="2331720" cy="1143000"/>
          </a:xfrm>
          <a:prstGeom prst="roundRect">
            <a:avLst/>
          </a:prstGeom>
          <a:solidFill>
            <a:srgbClr val="12233F"/>
          </a:solidFill>
          <a:ln w="12700">
            <a:solidFill>
              <a:srgbClr val="1223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52560" y="4197096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작업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Apple/Samsung 실제 비식별 fixture로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1143000" y="6016752"/>
            <a:ext cx="9875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provider별 parser·schema·golden test를 검증한다.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30352" y="6428232"/>
            <a:ext cx="5760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184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maiReport · v6.0 · internal developer handoff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1BABF6A94C35643897AD108A63C3FA9" ma:contentTypeVersion="3" ma:contentTypeDescription="새 문서를 만듭니다." ma:contentTypeScope="" ma:versionID="0dd8771f9317307737e3c0a6afa68b4c">
  <xsd:schema xmlns:xsd="http://www.w3.org/2001/XMLSchema" xmlns:xs="http://www.w3.org/2001/XMLSchema" xmlns:p="http://schemas.microsoft.com/office/2006/metadata/properties" xmlns:ns2="47def904-0df1-4aa1-ae40-c4bd318a6de7" targetNamespace="http://schemas.microsoft.com/office/2006/metadata/properties" ma:root="true" ma:fieldsID="8ccd85fd4a825fc66f8c3b5a4ab7306b" ns2:_="">
    <xsd:import namespace="47def904-0df1-4aa1-ae40-c4bd318a6d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def904-0df1-4aa1-ae40-c4bd318a6d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1EFAF3-D90E-479F-99C3-2D04FFDAD411}"/>
</file>

<file path=customXml/itemProps2.xml><?xml version="1.0" encoding="utf-8"?>
<ds:datastoreItem xmlns:ds="http://schemas.openxmlformats.org/officeDocument/2006/customXml" ds:itemID="{6191DE27-97B9-48E8-94BE-DCD1B7B042FA}"/>
</file>

<file path=customXml/itemProps3.xml><?xml version="1.0" encoding="utf-8"?>
<ds:datastoreItem xmlns:ds="http://schemas.openxmlformats.org/officeDocument/2006/customXml" ds:itemID="{8CA9F6BB-3F3E-4B02-BA86-0081A2CC49A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maiReport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maiReport 지표 산식 v6.0</dc:title>
  <dc:subject>maiReport v6.0 indicator formulas</dc:subject>
  <dc:creator>maiReport</dc:creator>
  <cp:lastModifiedBy>maiReport</cp:lastModifiedBy>
  <cp:revision>1</cp:revision>
  <dcterms:created xsi:type="dcterms:W3CDTF">2026-09-11T00:19:56Z</dcterms:created>
  <dcterms:modified xsi:type="dcterms:W3CDTF">2026-09-11T00:19:56Z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0x01010011BABF6A94C35643897AD108A63C3FA9</vt:lpwstr>
  </property>
</Properties>
</file>